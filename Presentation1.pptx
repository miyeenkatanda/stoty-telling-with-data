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9" r:id="rId2"/>
    <p:sldId id="258" r:id="rId3"/>
    <p:sldId id="256" r:id="rId4"/>
    <p:sldId id="257"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82589" autoAdjust="0"/>
  </p:normalViewPr>
  <p:slideViewPr>
    <p:cSldViewPr snapToGrid="0">
      <p:cViewPr varScale="1">
        <p:scale>
          <a:sx n="73" d="100"/>
          <a:sy n="73" d="100"/>
        </p:scale>
        <p:origin x="771" y="33"/>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5A52F-953E-4921-859B-2B57011BEBEB}" type="datetimeFigureOut">
              <a:rPr lang="en-US" smtClean="0"/>
              <a:t>8/18/2025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F8C164-6EDC-4738-895F-F71638FD5BBB}" type="slidenum">
              <a:rPr lang="en-US" smtClean="0"/>
              <a:t>‹#›</a:t>
            </a:fld>
            <a:endParaRPr lang="en-US"/>
          </a:p>
        </p:txBody>
      </p:sp>
    </p:spTree>
    <p:extLst>
      <p:ext uri="{BB962C8B-B14F-4D97-AF65-F5344CB8AC3E}">
        <p14:creationId xmlns:p14="http://schemas.microsoft.com/office/powerpoint/2010/main" val="20582320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analysis of the BEA sales data reveals a compelling story about the American automotive market, one that's not just a sales trend but a fundamental shift in consumer preference. Today, I want to present a narrative that follows a classic story arc, showing how a period of stability was shattered and ultimately led to a new reality for the industry</a:t>
            </a:r>
          </a:p>
        </p:txBody>
      </p:sp>
      <p:sp>
        <p:nvSpPr>
          <p:cNvPr id="4" name="Slide Number Placeholder 3"/>
          <p:cNvSpPr>
            <a:spLocks noGrp="1"/>
          </p:cNvSpPr>
          <p:nvPr>
            <p:ph type="sldNum" sz="quarter" idx="5"/>
          </p:nvPr>
        </p:nvSpPr>
        <p:spPr/>
        <p:txBody>
          <a:bodyPr/>
          <a:lstStyle/>
          <a:p>
            <a:fld id="{95F8C164-6EDC-4738-895F-F71638FD5BBB}" type="slidenum">
              <a:rPr lang="en-US" smtClean="0"/>
              <a:t>1</a:t>
            </a:fld>
            <a:endParaRPr lang="en-US"/>
          </a:p>
        </p:txBody>
      </p:sp>
    </p:spTree>
    <p:extLst>
      <p:ext uri="{BB962C8B-B14F-4D97-AF65-F5344CB8AC3E}">
        <p14:creationId xmlns:p14="http://schemas.microsoft.com/office/powerpoint/2010/main" val="1164649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1990 to the mid-2000s, autos and light trucks enjoyed a remarkable period of parity. As you can see from this first slide, sales for both vehicles followed similar trajectories, with combined sales consistently over a million units. The choice between a sedan and a light truck was a matter of personal preference, not market dominance.“</a:t>
            </a:r>
          </a:p>
          <a:p>
            <a:r>
              <a:rPr lang="en-US" dirty="0"/>
              <a:t>The conflict begins with the 2008 financial crisis, marked by this gray dotted line. The data shows an unprecedented sales collapse for both vehicles. This was a brutal conflict for the entire industry. However, the true climax of our story is in the recovery. As the economy slowly rebounded, autos and light trucks embarked on two very different paths.</a:t>
            </a:r>
          </a:p>
        </p:txBody>
      </p:sp>
      <p:sp>
        <p:nvSpPr>
          <p:cNvPr id="4" name="Slide Number Placeholder 3"/>
          <p:cNvSpPr>
            <a:spLocks noGrp="1"/>
          </p:cNvSpPr>
          <p:nvPr>
            <p:ph type="sldNum" sz="quarter" idx="5"/>
          </p:nvPr>
        </p:nvSpPr>
        <p:spPr/>
        <p:txBody>
          <a:bodyPr/>
          <a:lstStyle/>
          <a:p>
            <a:fld id="{95F8C164-6EDC-4738-895F-F71638FD5BBB}" type="slidenum">
              <a:rPr lang="en-US" smtClean="0"/>
              <a:t>2</a:t>
            </a:fld>
            <a:endParaRPr lang="en-US"/>
          </a:p>
        </p:txBody>
      </p:sp>
    </p:spTree>
    <p:extLst>
      <p:ext uri="{BB962C8B-B14F-4D97-AF65-F5344CB8AC3E}">
        <p14:creationId xmlns:p14="http://schemas.microsoft.com/office/powerpoint/2010/main" val="3601786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closer at autos. Sales rebounded weakly and then plateaued, never fully regaining their pre-crisis volume. The traditional car, burdened by a shrinking demand, has not recovered to its former strength</a:t>
            </a:r>
          </a:p>
        </p:txBody>
      </p:sp>
      <p:sp>
        <p:nvSpPr>
          <p:cNvPr id="4" name="Slide Number Placeholder 3"/>
          <p:cNvSpPr>
            <a:spLocks noGrp="1"/>
          </p:cNvSpPr>
          <p:nvPr>
            <p:ph type="sldNum" sz="quarter" idx="5"/>
          </p:nvPr>
        </p:nvSpPr>
        <p:spPr/>
        <p:txBody>
          <a:bodyPr/>
          <a:lstStyle/>
          <a:p>
            <a:fld id="{95F8C164-6EDC-4738-895F-F71638FD5BBB}" type="slidenum">
              <a:rPr lang="en-US" smtClean="0"/>
              <a:t>3</a:t>
            </a:fld>
            <a:endParaRPr lang="en-US"/>
          </a:p>
        </p:txBody>
      </p:sp>
    </p:spTree>
    <p:extLst>
      <p:ext uri="{BB962C8B-B14F-4D97-AF65-F5344CB8AC3E}">
        <p14:creationId xmlns:p14="http://schemas.microsoft.com/office/powerpoint/2010/main" val="35082798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light trucks showed stunning resilience. Sales not only recovered but eventually surpassed their previous peak, accelerating their growth from 2010 onward. This is the new market leader.</a:t>
            </a:r>
          </a:p>
          <a:p>
            <a:r>
              <a:rPr lang="en-US" dirty="0"/>
              <a:t>The resolution is clear: the crisis did not just create a temporary dip; it permanently reset consumer behavior. The era of parity is over. The American consumer has spoken, and they prefer the utility, space, and versatility of a truck.</a:t>
            </a:r>
          </a:p>
        </p:txBody>
      </p:sp>
      <p:sp>
        <p:nvSpPr>
          <p:cNvPr id="4" name="Slide Number Placeholder 3"/>
          <p:cNvSpPr>
            <a:spLocks noGrp="1"/>
          </p:cNvSpPr>
          <p:nvPr>
            <p:ph type="sldNum" sz="quarter" idx="5"/>
          </p:nvPr>
        </p:nvSpPr>
        <p:spPr/>
        <p:txBody>
          <a:bodyPr/>
          <a:lstStyle/>
          <a:p>
            <a:fld id="{95F8C164-6EDC-4738-895F-F71638FD5BBB}" type="slidenum">
              <a:rPr lang="en-US" smtClean="0"/>
              <a:t>4</a:t>
            </a:fld>
            <a:endParaRPr lang="en-US"/>
          </a:p>
        </p:txBody>
      </p:sp>
    </p:spTree>
    <p:extLst>
      <p:ext uri="{BB962C8B-B14F-4D97-AF65-F5344CB8AC3E}">
        <p14:creationId xmlns:p14="http://schemas.microsoft.com/office/powerpoint/2010/main" val="85698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NADA, this is more than just a trend; it's the new reality. The data suggests that dealers should focus their strategies on light trucks, as they are the key drivers of sales growth. This isn't just about selling more light trucks; it's about understanding the demographic shift that prefers their features and targeting them accordingly. The recovery shows that the light truck segment is robust, and it's where the future of the American automotive market lies.</a:t>
            </a:r>
          </a:p>
        </p:txBody>
      </p:sp>
      <p:sp>
        <p:nvSpPr>
          <p:cNvPr id="4" name="Slide Number Placeholder 3"/>
          <p:cNvSpPr>
            <a:spLocks noGrp="1"/>
          </p:cNvSpPr>
          <p:nvPr>
            <p:ph type="sldNum" sz="quarter" idx="5"/>
          </p:nvPr>
        </p:nvSpPr>
        <p:spPr/>
        <p:txBody>
          <a:bodyPr/>
          <a:lstStyle/>
          <a:p>
            <a:fld id="{95F8C164-6EDC-4738-895F-F71638FD5BBB}" type="slidenum">
              <a:rPr lang="en-US" smtClean="0"/>
              <a:t>5</a:t>
            </a:fld>
            <a:endParaRPr lang="en-US"/>
          </a:p>
        </p:txBody>
      </p:sp>
    </p:spTree>
    <p:extLst>
      <p:ext uri="{BB962C8B-B14F-4D97-AF65-F5344CB8AC3E}">
        <p14:creationId xmlns:p14="http://schemas.microsoft.com/office/powerpoint/2010/main" val="2881838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EAF61-C213-0EA9-335E-05B498770D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F3DF78-5A40-C466-59FD-D4473BF5D9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14FA8C-6934-F9DE-91CA-3571B3BA235B}"/>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5" name="Footer Placeholder 4">
            <a:extLst>
              <a:ext uri="{FF2B5EF4-FFF2-40B4-BE49-F238E27FC236}">
                <a16:creationId xmlns:a16="http://schemas.microsoft.com/office/drawing/2014/main" id="{870B2AE4-73D0-AB37-F280-6766A5B9B5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635BE-3194-F8F6-B8D3-31E0F22129B7}"/>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2352951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3FB5C-4233-D00C-4622-132FAB6B2D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12127F-0F1F-1876-9443-2AAB5F1B65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68D5FB-3F63-40F7-3F6D-980F6474EBC7}"/>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5" name="Footer Placeholder 4">
            <a:extLst>
              <a:ext uri="{FF2B5EF4-FFF2-40B4-BE49-F238E27FC236}">
                <a16:creationId xmlns:a16="http://schemas.microsoft.com/office/drawing/2014/main" id="{C722563B-09DE-D89A-B799-BFB61C0FD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B0A5DD-D8AC-F643-7A51-108F6D4E6957}"/>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4269737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12121-279E-DA3B-076F-22B0FBD8F2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60E735-1DFA-DF8E-FD12-9E83AF962B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2107E30-74A1-EE3C-64B9-7464411A7562}"/>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5" name="Footer Placeholder 4">
            <a:extLst>
              <a:ext uri="{FF2B5EF4-FFF2-40B4-BE49-F238E27FC236}">
                <a16:creationId xmlns:a16="http://schemas.microsoft.com/office/drawing/2014/main" id="{68BFDFF7-B293-0252-7672-CAA1BE9D27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7BB9AE-9855-0F7A-9F55-9F89F83E2FEB}"/>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70145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43318-5C08-2417-8D1B-8E35131505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0D0EEC-C1D0-AB9E-73D3-5A3B5ACBAAB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7E94F6-2E67-939B-EE0E-E8DED4FBC3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59A1E4-4C3B-1DE6-DC27-81DC121B60DA}"/>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6" name="Footer Placeholder 5">
            <a:extLst>
              <a:ext uri="{FF2B5EF4-FFF2-40B4-BE49-F238E27FC236}">
                <a16:creationId xmlns:a16="http://schemas.microsoft.com/office/drawing/2014/main" id="{33768638-66A4-5073-4C65-60C425A942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A92198-2E10-7A55-0626-5DE5094AE557}"/>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385745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BD4BF-AC77-8A36-D966-26C189C6CD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9C596B-2282-BDA2-2150-17804B673F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1FCE36-F41A-C075-FF05-B909711148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18B1C8-D968-E92F-5D9B-A2CF38A2A2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DA9949-D43F-1F83-237D-95EAAB0DEE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B825DD-27C0-59BB-DA67-F15971252496}"/>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8" name="Footer Placeholder 7">
            <a:extLst>
              <a:ext uri="{FF2B5EF4-FFF2-40B4-BE49-F238E27FC236}">
                <a16:creationId xmlns:a16="http://schemas.microsoft.com/office/drawing/2014/main" id="{29A9F2F1-2657-B10B-05C5-74499329AD7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ACB194-D68A-47CB-B552-A91142FE00A1}"/>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2905491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485E6-3FD7-1F6B-5700-A1282C3C563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C481466-0205-FAB9-FE83-D65656948800}"/>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4" name="Footer Placeholder 3">
            <a:extLst>
              <a:ext uri="{FF2B5EF4-FFF2-40B4-BE49-F238E27FC236}">
                <a16:creationId xmlns:a16="http://schemas.microsoft.com/office/drawing/2014/main" id="{91200EE6-C017-CED7-7D17-B8A3D3D89A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49CBFF-F796-1974-68F5-1FB0902F7B6B}"/>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2087282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D651EE-219D-0B83-8C8C-9B80A672C27C}"/>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3" name="Footer Placeholder 2">
            <a:extLst>
              <a:ext uri="{FF2B5EF4-FFF2-40B4-BE49-F238E27FC236}">
                <a16:creationId xmlns:a16="http://schemas.microsoft.com/office/drawing/2014/main" id="{29EEC2BF-AEE1-660B-2689-097488325A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7C879A-795E-1BAF-22FD-A3C4EEE5A6F8}"/>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1225646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E18E4-C88A-F7C7-AF29-46B89358AB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59F433-FB78-0232-DD9F-3D05B1D031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574A0C-180E-8801-8D13-5CDE577883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49C4B9-1A83-49CD-C820-18B3E5A33160}"/>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6" name="Footer Placeholder 5">
            <a:extLst>
              <a:ext uri="{FF2B5EF4-FFF2-40B4-BE49-F238E27FC236}">
                <a16:creationId xmlns:a16="http://schemas.microsoft.com/office/drawing/2014/main" id="{F0037A2A-5A0D-5981-C09C-13CA6FAEED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8CA344-DA1F-5990-97A9-9C83BBCEFF47}"/>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1424835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98D98-0B56-9775-B983-C584BB8CBA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EC5E81-E0D9-8AF4-2BA9-383331E6CB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63A3DDE-00CA-57E3-C9DC-6ECA50B83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E5A570-78F8-8D3E-82C6-824C930309C2}"/>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6" name="Footer Placeholder 5">
            <a:extLst>
              <a:ext uri="{FF2B5EF4-FFF2-40B4-BE49-F238E27FC236}">
                <a16:creationId xmlns:a16="http://schemas.microsoft.com/office/drawing/2014/main" id="{B336AF32-8E49-BC15-2692-9BA5D8AA87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6035FD-F035-F324-6058-721F27A0EC79}"/>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1724888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5ADDA-C81B-CF40-9726-7BCB81EBD5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63863F-427E-2E2B-9B84-204D205323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2C251F-43F1-AA3B-3E58-9AA197D90BD2}"/>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5" name="Footer Placeholder 4">
            <a:extLst>
              <a:ext uri="{FF2B5EF4-FFF2-40B4-BE49-F238E27FC236}">
                <a16:creationId xmlns:a16="http://schemas.microsoft.com/office/drawing/2014/main" id="{52766FC8-F8F9-5D3F-4386-6B563182ED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152034-64DD-5247-674B-2F05DCFB2331}"/>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171815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D15E40-C555-48EB-D120-116A381BD9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13B6A3-508D-62C3-40D0-F438D26904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C04F36-AF7B-000D-F899-05C0DA1B4D7D}"/>
              </a:ext>
            </a:extLst>
          </p:cNvPr>
          <p:cNvSpPr>
            <a:spLocks noGrp="1"/>
          </p:cNvSpPr>
          <p:nvPr>
            <p:ph type="dt" sz="half" idx="10"/>
          </p:nvPr>
        </p:nvSpPr>
        <p:spPr/>
        <p:txBody>
          <a:bodyPr/>
          <a:lstStyle/>
          <a:p>
            <a:fld id="{D9ED9B13-B123-4E10-865E-2B9F0879B183}" type="datetimeFigureOut">
              <a:rPr lang="en-US" smtClean="0"/>
              <a:t>8/18/2025</a:t>
            </a:fld>
            <a:endParaRPr lang="en-US"/>
          </a:p>
        </p:txBody>
      </p:sp>
      <p:sp>
        <p:nvSpPr>
          <p:cNvPr id="5" name="Footer Placeholder 4">
            <a:extLst>
              <a:ext uri="{FF2B5EF4-FFF2-40B4-BE49-F238E27FC236}">
                <a16:creationId xmlns:a16="http://schemas.microsoft.com/office/drawing/2014/main" id="{67E6D855-2835-F482-8468-1418549D5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38C2FD-1009-A77A-3925-79E9FB93E513}"/>
              </a:ext>
            </a:extLst>
          </p:cNvPr>
          <p:cNvSpPr>
            <a:spLocks noGrp="1"/>
          </p:cNvSpPr>
          <p:nvPr>
            <p:ph type="sldNum" sz="quarter" idx="12"/>
          </p:nvPr>
        </p:nvSpPr>
        <p:spPr/>
        <p:txBody>
          <a:bodyPr/>
          <a:lstStyle/>
          <a:p>
            <a:fld id="{8557A950-0F06-4FD9-A0E5-ED61BE795C4F}" type="slidenum">
              <a:rPr lang="en-US" smtClean="0"/>
              <a:t>‹#›</a:t>
            </a:fld>
            <a:endParaRPr lang="en-US"/>
          </a:p>
        </p:txBody>
      </p:sp>
    </p:spTree>
    <p:extLst>
      <p:ext uri="{BB962C8B-B14F-4D97-AF65-F5344CB8AC3E}">
        <p14:creationId xmlns:p14="http://schemas.microsoft.com/office/powerpoint/2010/main" val="3746325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30555C-6E58-87E9-CD17-082E9C21DC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1D13F2-6662-4A0F-BFF1-67E2257E22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83D31-2834-37E2-A2F0-4D14C97891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ED9B13-B123-4E10-865E-2B9F0879B183}" type="datetimeFigureOut">
              <a:rPr lang="en-US" smtClean="0"/>
              <a:t>8/18/2025</a:t>
            </a:fld>
            <a:endParaRPr lang="en-US"/>
          </a:p>
        </p:txBody>
      </p:sp>
      <p:sp>
        <p:nvSpPr>
          <p:cNvPr id="5" name="Footer Placeholder 4">
            <a:extLst>
              <a:ext uri="{FF2B5EF4-FFF2-40B4-BE49-F238E27FC236}">
                <a16:creationId xmlns:a16="http://schemas.microsoft.com/office/drawing/2014/main" id="{9AB624C8-16F7-D61E-E163-6C00223C01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8A8D616-B269-F07B-62AF-BD9B7D9E14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57A950-0F06-4FD9-A0E5-ED61BE795C4F}" type="slidenum">
              <a:rPr lang="en-US" smtClean="0"/>
              <a:t>‹#›</a:t>
            </a:fld>
            <a:endParaRPr lang="en-US"/>
          </a:p>
        </p:txBody>
      </p:sp>
    </p:spTree>
    <p:extLst>
      <p:ext uri="{BB962C8B-B14F-4D97-AF65-F5344CB8AC3E}">
        <p14:creationId xmlns:p14="http://schemas.microsoft.com/office/powerpoint/2010/main" val="2897289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Exposure shot of Vehicle lights on a highway">
            <a:extLst>
              <a:ext uri="{FF2B5EF4-FFF2-40B4-BE49-F238E27FC236}">
                <a16:creationId xmlns:a16="http://schemas.microsoft.com/office/drawing/2014/main" id="{6E87C415-F136-3F26-7314-BF87071F10E3}"/>
              </a:ext>
            </a:extLst>
          </p:cNvPr>
          <p:cNvPicPr>
            <a:picLocks noChangeAspect="1"/>
          </p:cNvPicPr>
          <p:nvPr/>
        </p:nvPicPr>
        <p:blipFill>
          <a:blip r:embed="rId3">
            <a:alphaModFix amt="50000"/>
          </a:blip>
          <a:srcRect t="24981" r="-1" b="-1"/>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F37D380A-E2D8-7CFB-5DAD-F9541745C051}"/>
              </a:ext>
            </a:extLst>
          </p:cNvPr>
          <p:cNvSpPr>
            <a:spLocks noGrp="1"/>
          </p:cNvSpPr>
          <p:nvPr>
            <p:ph type="ctrTitle"/>
          </p:nvPr>
        </p:nvSpPr>
        <p:spPr>
          <a:xfrm>
            <a:off x="1524000" y="1122363"/>
            <a:ext cx="9144000" cy="3063240"/>
          </a:xfrm>
        </p:spPr>
        <p:txBody>
          <a:bodyPr>
            <a:normAutofit/>
          </a:bodyPr>
          <a:lstStyle/>
          <a:p>
            <a:r>
              <a:rPr lang="en-US" sz="6600" dirty="0">
                <a:solidFill>
                  <a:schemeClr val="bg1"/>
                </a:solidFill>
              </a:rPr>
              <a:t>The Rise of the Truck</a:t>
            </a:r>
          </a:p>
        </p:txBody>
      </p:sp>
      <p:sp>
        <p:nvSpPr>
          <p:cNvPr id="35"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9391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4A376-9DBD-DE01-76A4-7098B11314D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ADA6129-EDB3-1733-A074-3145653E9D6C}"/>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37490D76-879C-7776-A02C-5713C7B01A13}"/>
              </a:ext>
            </a:extLst>
          </p:cNvPr>
          <p:cNvPicPr>
            <a:picLocks noChangeAspect="1"/>
          </p:cNvPicPr>
          <p:nvPr/>
        </p:nvPicPr>
        <p:blipFill>
          <a:blip r:embed="rId3"/>
          <a:stretch>
            <a:fillRect/>
          </a:stretch>
        </p:blipFill>
        <p:spPr>
          <a:xfrm>
            <a:off x="512712" y="202118"/>
            <a:ext cx="11374394" cy="6453764"/>
          </a:xfrm>
          <a:prstGeom prst="rect">
            <a:avLst/>
          </a:prstGeom>
        </p:spPr>
      </p:pic>
    </p:spTree>
    <p:extLst>
      <p:ext uri="{BB962C8B-B14F-4D97-AF65-F5344CB8AC3E}">
        <p14:creationId xmlns:p14="http://schemas.microsoft.com/office/powerpoint/2010/main" val="1960284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4BD9D87-B5CB-01C2-0669-5A314F6F46F5}"/>
              </a:ext>
            </a:extLst>
          </p:cNvPr>
          <p:cNvSpPr>
            <a:spLocks noGrp="1"/>
          </p:cNvSpPr>
          <p:nvPr>
            <p:ph type="subTitle" idx="1"/>
          </p:nvPr>
        </p:nvSpPr>
        <p:spPr/>
        <p:txBody>
          <a:bodyPr/>
          <a:lstStyle/>
          <a:p>
            <a:endParaRPr lang="en-US"/>
          </a:p>
        </p:txBody>
      </p:sp>
      <p:pic>
        <p:nvPicPr>
          <p:cNvPr id="7" name="Picture 6">
            <a:extLst>
              <a:ext uri="{FF2B5EF4-FFF2-40B4-BE49-F238E27FC236}">
                <a16:creationId xmlns:a16="http://schemas.microsoft.com/office/drawing/2014/main" id="{D9950B86-4ABF-8F2D-E81C-A337BF73C5B7}"/>
              </a:ext>
            </a:extLst>
          </p:cNvPr>
          <p:cNvPicPr>
            <a:picLocks noChangeAspect="1"/>
          </p:cNvPicPr>
          <p:nvPr/>
        </p:nvPicPr>
        <p:blipFill>
          <a:blip r:embed="rId3"/>
          <a:stretch>
            <a:fillRect/>
          </a:stretch>
        </p:blipFill>
        <p:spPr>
          <a:xfrm>
            <a:off x="0" y="637309"/>
            <a:ext cx="12076714" cy="5583381"/>
          </a:xfrm>
          <a:prstGeom prst="rect">
            <a:avLst/>
          </a:prstGeom>
        </p:spPr>
      </p:pic>
    </p:spTree>
    <p:extLst>
      <p:ext uri="{BB962C8B-B14F-4D97-AF65-F5344CB8AC3E}">
        <p14:creationId xmlns:p14="http://schemas.microsoft.com/office/powerpoint/2010/main" val="1881116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CD44D8D-4F55-96C4-2952-4C595212CE2A}"/>
              </a:ext>
            </a:extLst>
          </p:cNvPr>
          <p:cNvPicPr>
            <a:picLocks noGrp="1" noChangeAspect="1"/>
          </p:cNvPicPr>
          <p:nvPr>
            <p:ph idx="1"/>
          </p:nvPr>
        </p:nvPicPr>
        <p:blipFill>
          <a:blip r:embed="rId3"/>
          <a:stretch>
            <a:fillRect/>
          </a:stretch>
        </p:blipFill>
        <p:spPr>
          <a:xfrm>
            <a:off x="82109" y="633845"/>
            <a:ext cx="11895146" cy="5590310"/>
          </a:xfrm>
        </p:spPr>
      </p:pic>
    </p:spTree>
    <p:extLst>
      <p:ext uri="{BB962C8B-B14F-4D97-AF65-F5344CB8AC3E}">
        <p14:creationId xmlns:p14="http://schemas.microsoft.com/office/powerpoint/2010/main" val="522248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AEB2DE1-4DC4-81BF-17E4-F717B219580E}"/>
              </a:ext>
            </a:extLst>
          </p:cNvPr>
          <p:cNvSpPr>
            <a:spLocks noGrp="1"/>
          </p:cNvSpPr>
          <p:nvPr>
            <p:ph idx="1"/>
          </p:nvPr>
        </p:nvSpPr>
        <p:spPr>
          <a:xfrm>
            <a:off x="907049" y="2371248"/>
            <a:ext cx="9406666" cy="3526144"/>
          </a:xfrm>
        </p:spPr>
        <p:txBody>
          <a:bodyPr>
            <a:normAutofit/>
          </a:bodyPr>
          <a:lstStyle/>
          <a:p>
            <a:pPr marL="0" indent="0">
              <a:buNone/>
            </a:pPr>
            <a:r>
              <a:rPr lang="en-US" sz="2400" b="1" dirty="0">
                <a:solidFill>
                  <a:schemeClr val="bg1"/>
                </a:solidFill>
              </a:rPr>
              <a:t>Thank you</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1906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1098</TotalTime>
  <Words>417</Words>
  <Application>Microsoft Office PowerPoint</Application>
  <PresentationFormat>Widescreen</PresentationFormat>
  <Paragraphs>14</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The Rise of the Truck</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Miyeen Katanda</dc:creator>
  <cp:lastModifiedBy>Miyeen Katanda</cp:lastModifiedBy>
  <cp:revision>2</cp:revision>
  <dcterms:created xsi:type="dcterms:W3CDTF">2025-08-18T09:56:36Z</dcterms:created>
  <dcterms:modified xsi:type="dcterms:W3CDTF">2025-08-19T04:15:05Z</dcterms:modified>
</cp:coreProperties>
</file>